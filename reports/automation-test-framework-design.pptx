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vi-V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Thiết kế Framework Automation Test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50000" y="1220000"/>
            <a:ext cx="108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0">
                <a:solidFill>
                  <a:srgbClr val="666666"/>
                </a:solidFill>
              </a:rPr>
              <a:t>Java 17 • Maven • TestNG • Playwright Java • Rest Assured • PostgreSQL • Allure • Log4j2 • Git • Jenkins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8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Báo cáo đề xuất kiến trúc framework automation test end-to-end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Hỗ trợ kiểm thử UI, API, database validation và CI/CD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Mục tiêu &amp; phạm vi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Xây dựng framework dễ mở rộng, dễ bảo trì và chạy ổn định trên local/Jenkins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Tự động hóa kiểm thử UI bằng Playwright Java theo Page Object Model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Tự động hóa kiểm thử API bằng Rest Assured với reusable request specification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Hỗ trợ kiểm tra dữ liệu PostgreSQL sau thao tác UI/API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Cung cấp báo cáo Allure, log Log4j2 và artifacts phục vụ phân tích lỗi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Công nghệ sử dụng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Java 17: ngôn ngữ chính, ổn định và phù hợp cho enterprise automation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Maven: quản lý dependency, lifecycle build và test execution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TestNG: suite, group, parallel execution, listener và retry failed tests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Playwright Java: UI automation hiện đại, hỗ trợ Chromium/Firefox/WebKit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Rest Assured: API automation, validate status, body, schema và response time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PostgreSQL JDBC: truy vấn và xác thực dữ liệu backend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Allure + Log4j2: report trực quan và logging có cấu trúc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Git + Jenkins: version control và CI/CD pipeline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Kiến trúc tổng thể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Test Layer: UI tests, API tests, DB validation tests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Business Layer: Page Objects, API clients, test flows và reusable steps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Core Layer: config, browser manager, request builder, database manager, utilities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Reporting Layer: Allure attachments, screenshots, traces, logs và environment info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Execution Layer: TestNG suites, Maven profiles, Jenkins parameters và Git workflow</a:t>
            </a:r>
          </a:p>
        </p:txBody>
      </p:sp>
      <p:sp>
        <p:nvSpPr>
          <p:cNvPr id="30" name="Diagram 1"/>
          <p:cNvSpPr txBox="1"/>
          <p:nvPr/>
        </p:nvSpPr>
        <p:spPr>
          <a:xfrm>
            <a:off x="850000" y="5050000"/>
            <a:ext cx="1950000" cy="5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350" b="1">
                <a:solidFill>
                  <a:srgbClr val="FFFFFF"/>
                </a:solidFill>
              </a:rPr>
              <a:t>TestNG Suites</a:t>
            </a:r>
          </a:p>
        </p:txBody>
      </p:sp>
      <p:sp>
        <p:nvSpPr>
          <p:cNvPr id="50" name="Arrow 1"/>
          <p:cNvSpPr txBox="1"/>
          <p:nvPr/>
        </p:nvSpPr>
        <p:spPr>
          <a:xfrm>
            <a:off x="2820000" y="5120000"/>
            <a:ext cx="14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1">
                <a:solidFill>
                  <a:srgbClr val="F28C28"/>
                </a:solidFill>
              </a:rPr>
              <a:t>→</a:t>
            </a:r>
          </a:p>
        </p:txBody>
      </p:sp>
      <p:sp>
        <p:nvSpPr>
          <p:cNvPr id="31" name="Diagram 2"/>
          <p:cNvSpPr txBox="1"/>
          <p:nvPr/>
        </p:nvSpPr>
        <p:spPr>
          <a:xfrm>
            <a:off x="2970000" y="5050000"/>
            <a:ext cx="1950000" cy="5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350" b="1">
                <a:solidFill>
                  <a:srgbClr val="FFFFFF"/>
                </a:solidFill>
              </a:rPr>
              <a:t>UI / API / DB Tests</a:t>
            </a:r>
          </a:p>
        </p:txBody>
      </p:sp>
      <p:sp>
        <p:nvSpPr>
          <p:cNvPr id="51" name="Arrow 2"/>
          <p:cNvSpPr txBox="1"/>
          <p:nvPr/>
        </p:nvSpPr>
        <p:spPr>
          <a:xfrm>
            <a:off x="4940000" y="5120000"/>
            <a:ext cx="14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1">
                <a:solidFill>
                  <a:srgbClr val="F28C28"/>
                </a:solidFill>
              </a:rPr>
              <a:t>→</a:t>
            </a:r>
          </a:p>
        </p:txBody>
      </p:sp>
      <p:sp>
        <p:nvSpPr>
          <p:cNvPr id="32" name="Diagram 3"/>
          <p:cNvSpPr txBox="1"/>
          <p:nvPr/>
        </p:nvSpPr>
        <p:spPr>
          <a:xfrm>
            <a:off x="5090000" y="5050000"/>
            <a:ext cx="1950000" cy="5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350" b="1">
                <a:solidFill>
                  <a:srgbClr val="FFFFFF"/>
                </a:solidFill>
              </a:rPr>
              <a:t>Core Framework Layer</a:t>
            </a:r>
          </a:p>
        </p:txBody>
      </p:sp>
      <p:sp>
        <p:nvSpPr>
          <p:cNvPr id="52" name="Arrow 3"/>
          <p:cNvSpPr txBox="1"/>
          <p:nvPr/>
        </p:nvSpPr>
        <p:spPr>
          <a:xfrm>
            <a:off x="7060000" y="5120000"/>
            <a:ext cx="14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1">
                <a:solidFill>
                  <a:srgbClr val="F28C28"/>
                </a:solidFill>
              </a:rPr>
              <a:t>→</a:t>
            </a:r>
          </a:p>
        </p:txBody>
      </p:sp>
      <p:sp>
        <p:nvSpPr>
          <p:cNvPr id="33" name="Diagram 4"/>
          <p:cNvSpPr txBox="1"/>
          <p:nvPr/>
        </p:nvSpPr>
        <p:spPr>
          <a:xfrm>
            <a:off x="7210000" y="5050000"/>
            <a:ext cx="1950000" cy="5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350" b="1">
                <a:solidFill>
                  <a:srgbClr val="FFFFFF"/>
                </a:solidFill>
              </a:rPr>
              <a:t>Allure + Log4j2 Artifacts</a:t>
            </a:r>
          </a:p>
        </p:txBody>
      </p:sp>
      <p:sp>
        <p:nvSpPr>
          <p:cNvPr id="53" name="Arrow 4"/>
          <p:cNvSpPr txBox="1"/>
          <p:nvPr/>
        </p:nvSpPr>
        <p:spPr>
          <a:xfrm>
            <a:off x="9180000" y="5120000"/>
            <a:ext cx="14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1">
                <a:solidFill>
                  <a:srgbClr val="F28C28"/>
                </a:solidFill>
              </a:rPr>
              <a:t>→</a:t>
            </a:r>
          </a:p>
        </p:txBody>
      </p:sp>
      <p:sp>
        <p:nvSpPr>
          <p:cNvPr id="34" name="Diagram 5"/>
          <p:cNvSpPr txBox="1"/>
          <p:nvPr/>
        </p:nvSpPr>
        <p:spPr>
          <a:xfrm>
            <a:off x="9330000" y="5050000"/>
            <a:ext cx="1950000" cy="5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350" b="1">
                <a:solidFill>
                  <a:srgbClr val="FFFFFF"/>
                </a:solidFill>
              </a:rPr>
              <a:t>Jenkins CI/CD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Cấu trúc project Maven đề xuất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src/main/java/core/config: đọc cấu hình theo môi trường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src/main/java/core/driver: khởi tạo Playwright, browser context và page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src/main/java/core/api: base client, request builder, auth helper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src/main/java/core/database: connection manager và query executor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src/main/java/pages: Page Object Model cho UI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src/test/java/tests/ui|api|database: test cases theo từng nhóm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src/test/resources: testng XML, config properties, log4j2.xml, allure.properties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UI Automation - Playwright Java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Áp dụng Page Object Model để tách locator/action khỏi test case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BrowserManager quản lý Chromium, Firefox, WebKit và chế độ headless/headed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Mỗi test có browser context riêng để tránh rò rỉ session khi chạy parallel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Capture screenshot, video/trace khi test failed và attach vào Allure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Ưu tiên locator ổn định: data-testid, role, label, text có ý nghĩa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API Automation - Rest Assured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BaseApiClient cấu hình base URI, headers, authentication và timeout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RequestBuilder chuẩn hóa cách tạo GET/POST/PUT/PATCH/DELETE request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ResponseValidator kiểm tra status code, body, JSON schema và response time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AuthHelper quản lý token/session và tái sử dụng cho nhiều test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Attach request/response vào Allure để phân tích lỗi nhanh hơn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Database Validation - PostgreSQL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DatabaseConnectionManager tạo connection an toàn bằng JDBC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QueryExecutor hỗ trợ SELECT/INSERT/UPDATE/DELETE cho setup, assert và cleanup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Thông tin DB lấy từ config hoặc Jenkins credentials, không hardcode password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Dùng DB assertion có chọn lọc cho các luồng cần xác nhận dữ liệu backend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Thiết kế cleanup test data để giảm flaky test và phụ thuộc môi trường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Reporting &amp; Logging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Allure hiển thị Epic, Feature, Story, Severity, step và attachment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Screenshot, trace, request/response API và log file được attach khi cần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Log4j2 ghi log ra console và file, hỗ trợ rolling file theo ngày/kích thước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Log level có thể cấu hình: INFO cho CI, DEBUG khi phân tích lỗi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allure-results được Jenkins publish thành báo cáo sau mỗi lần chạy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TestNG &amp; chiến lược chạy test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Tách suite: smoke, regression, ui, api, database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Sử dụng group để chọn test theo mục đích chạy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Parallel execution ở class/method level tùy mức độ độc lập của test data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Listener xử lý screenshot/log attachment và retry failed tests có kiểm soát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Test phải độc lập, không phụ thuộc thứ tự chạy và có setup/teardown rõ ràng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CI/CD với Jenkins &amp; Git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Jenkins pipeline: checkout, setup Java 17, build, run test, publish Allure, archive artifacts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Pipeline parameter: environment, suite, browser, headless, thread count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Credentials DB/API/token được quản lý trong Jenkins Credentials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Git flow: main/develop/feature/bugfix/release, mọi thay đổi đi qua Pull Request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CI chạy smoke/API nhanh cho PR và regression theo lịch hoặc trước release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0000" y="4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300" b="1">
                <a:solidFill>
                  <a:srgbClr val="1F4E79"/>
                </a:solidFill>
              </a:rPr>
              <a:t>Roadmap triển khai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50000" y="1450000"/>
            <a:ext cx="105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Phase 1: tạo Maven project, cấu hình Java 17, config reader, Log4j2, TestNG base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Phase 2: tích hợp Playwright Java, BrowserManager, BasePage và sample UI test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Phase 3: tích hợp Rest Assured, BaseApiClient, AuthHelper và sample API test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Phase 4: tích hợp PostgreSQL JDBC, QueryExecutor và DB validation sample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Phase 5: hoàn thiện Allure report, listener, screenshots, logs và Jenkinsfile</a:t>
            </a:r>
          </a:p>
          <a:p>
            <a:pPr marL="342900" indent="-171450">
              <a:buChar char="•"/>
            </a:pPr>
            <a:r>
              <a:rPr lang="vi-VN" sz="1600" b="0">
                <a:solidFill>
                  <a:srgbClr val="333333"/>
                </a:solidFill>
              </a:rPr>
              <a:t>Kết quả kỳ vọng: framework chuẩn hóa, dễ mở rộng, hỗ trợ UI/API/DB và CI/CD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750000" y="65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900" b="0">
                <a:solidFill>
                  <a:srgbClr val="777777"/>
                </a:solidFill>
              </a:rPr>
              <a:t>Automation Test Framework Design  |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ion Theme">
  <a:themeElements>
    <a:clrScheme name="Automation">
      <a:dk1>
        <a:srgbClr val="1F1F1F"/>
      </a:dk1>
      <a:lt1>
        <a:srgbClr val="FFFFFF"/>
      </a:lt1>
      <a:dk2>
        <a:srgbClr val="333333"/>
      </a:dk2>
      <a:lt2>
        <a:srgbClr val="F3F6FA"/>
      </a:lt2>
      <a:accent1>
        <a:srgbClr val="1F4E79"/>
      </a:accent1>
      <a:accent2>
        <a:srgbClr val="F28C28"/>
      </a:accent2>
      <a:accent3>
        <a:srgbClr val="5B9BD5"/>
      </a:accent3>
      <a:accent4>
        <a:srgbClr val="70AD47"/>
      </a:accent4>
      <a:accent5>
        <a:srgbClr val="A5A5A5"/>
      </a:accent5>
      <a:accent6>
        <a:srgbClr val="FFC000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thiết kế Framework Automation Test</dc:title>
  <dc:creator>Cursor Cloud Agent</dc:creator>
  <cp:lastModifiedBy>Cursor Cloud Agent</cp:lastModifiedBy>
  <dcterms:created xsi:type="dcterms:W3CDTF">2026-06-08T08:27:28Z</dcterms:created>
  <dcterms:modified xsi:type="dcterms:W3CDTF">2026-06-08T08:27:28Z</dcterms:modified>
</cp:coreProperties>
</file>